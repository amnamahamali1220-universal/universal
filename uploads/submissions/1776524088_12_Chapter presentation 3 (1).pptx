
<file path=[Content_Types].xml><?xml version="1.0" encoding="utf-8"?>
<Types xmlns="http://schemas.openxmlformats.org/package/2006/content-types">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96" r:id="rId2"/>
    <p:sldId id="257" r:id="rId3"/>
    <p:sldId id="258" r:id="rId4"/>
    <p:sldId id="259" r:id="rId5"/>
    <p:sldId id="260" r:id="rId6"/>
    <p:sldId id="297" r:id="rId7"/>
    <p:sldId id="261" r:id="rId8"/>
    <p:sldId id="262" r:id="rId9"/>
    <p:sldId id="298" r:id="rId10"/>
    <p:sldId id="263" r:id="rId11"/>
    <p:sldId id="264" r:id="rId12"/>
    <p:sldId id="299" r:id="rId13"/>
    <p:sldId id="265" r:id="rId14"/>
    <p:sldId id="266" r:id="rId15"/>
    <p:sldId id="267" r:id="rId16"/>
    <p:sldId id="300" r:id="rId17"/>
    <p:sldId id="268" r:id="rId18"/>
    <p:sldId id="301" r:id="rId19"/>
    <p:sldId id="269" r:id="rId20"/>
    <p:sldId id="270" r:id="rId21"/>
    <p:sldId id="302"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2" autoAdjust="0"/>
  </p:normalViewPr>
  <p:slideViewPr>
    <p:cSldViewPr snapToGrid="0" snapToObjects="1">
      <p:cViewPr varScale="1">
        <p:scale>
          <a:sx n="66" d="100"/>
          <a:sy n="66" d="100"/>
        </p:scale>
        <p:origin x="-1434" y="-96"/>
      </p:cViewPr>
      <p:guideLst>
        <p:guide orient="horz" pos="2160"/>
        <p:guide pos="2880"/>
      </p:guideLst>
    </p:cSldViewPr>
  </p:slideViewPr>
  <p:outlineViewPr>
    <p:cViewPr>
      <p:scale>
        <a:sx n="33" d="100"/>
        <a:sy n="33" d="100"/>
      </p:scale>
      <p:origin x="48" y="413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06-Dec-25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06-Dec-25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06-Dec-25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06-Dec-25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06-Dec-25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06-Dec-25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06-Dec-25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06-Dec-25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06-Dec-25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06-Dec-25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06-Dec-25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06-Dec-25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FF00"/>
                </a:solidFill>
                <a:latin typeface="Times New Roman" pitchFamily="18" charset="0"/>
                <a:cs typeface="Times New Roman" pitchFamily="18" charset="0"/>
              </a:rPr>
              <a:t>Ethics, Social Responsibility, and Sustainability</a:t>
            </a:r>
            <a:endParaRPr lang="en-US" b="1" dirty="0">
              <a:solidFill>
                <a:srgbClr val="FFFF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0" indent="0">
              <a:buNone/>
            </a:pPr>
            <a:r>
              <a:rPr lang="en-US" dirty="0" smtClean="0">
                <a:solidFill>
                  <a:srgbClr val="FFFF00"/>
                </a:solidFill>
                <a:latin typeface="Times New Roman" pitchFamily="18" charset="0"/>
                <a:cs typeface="Times New Roman" pitchFamily="18" charset="0"/>
              </a:rPr>
              <a:t>Presented By:</a:t>
            </a: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Amna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Maham</a:t>
            </a:r>
            <a:r>
              <a:rPr lang="en-US" dirty="0" smtClean="0">
                <a:latin typeface="Times New Roman" pitchFamily="18" charset="0"/>
                <a:cs typeface="Times New Roman" pitchFamily="18" charset="0"/>
              </a:rPr>
              <a:t> Ali   BBIS-22-04</a:t>
            </a: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Tooba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Shahbaz</a:t>
            </a:r>
            <a:r>
              <a:rPr lang="en-US" dirty="0" smtClean="0">
                <a:latin typeface="Times New Roman" pitchFamily="18" charset="0"/>
                <a:cs typeface="Times New Roman" pitchFamily="18" charset="0"/>
              </a:rPr>
              <a:t>      BBIS-22-06</a:t>
            </a: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Laiba</a:t>
            </a:r>
            <a:r>
              <a:rPr lang="en-US" dirty="0" smtClean="0">
                <a:latin typeface="Times New Roman" pitchFamily="18" charset="0"/>
                <a:cs typeface="Times New Roman" pitchFamily="18" charset="0"/>
              </a:rPr>
              <a:t> </a:t>
            </a:r>
            <a:r>
              <a:rPr lang="en-US" dirty="0" err="1" smtClean="0">
                <a:latin typeface="Times New Roman" pitchFamily="18" charset="0"/>
                <a:cs typeface="Times New Roman" pitchFamily="18" charset="0"/>
              </a:rPr>
              <a:t>Liaqat</a:t>
            </a:r>
            <a:r>
              <a:rPr lang="en-US" dirty="0" smtClean="0">
                <a:latin typeface="Times New Roman" pitchFamily="18" charset="0"/>
                <a:cs typeface="Times New Roman" pitchFamily="18" charset="0"/>
              </a:rPr>
              <a:t>          BBIS-22-31</a:t>
            </a:r>
            <a:endParaRPr lang="en-US"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4225" y="883754"/>
            <a:ext cx="1418811" cy="1395620"/>
          </a:xfrm>
          <a:prstGeom prst="rect">
            <a:avLst/>
          </a:prstGeom>
        </p:spPr>
      </p:pic>
    </p:spTree>
    <p:extLst>
      <p:ext uri="{BB962C8B-B14F-4D97-AF65-F5344CB8AC3E}">
        <p14:creationId xmlns:p14="http://schemas.microsoft.com/office/powerpoint/2010/main" val="12340848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lang="en-US" sz="4000" b="1" dirty="0" smtClean="0">
                <a:solidFill>
                  <a:srgbClr val="FFFF00"/>
                </a:solidFill>
                <a:latin typeface="Times New Roman" pitchFamily="18" charset="0"/>
                <a:cs typeface="Times New Roman" pitchFamily="18" charset="0"/>
              </a:rPr>
              <a:t>Introduction</a:t>
            </a:r>
            <a:endParaRPr sz="4000" b="1" dirty="0">
              <a:solidFill>
                <a:srgbClr val="FFFF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457200" lvl="1" indent="0">
              <a:buNone/>
              <a:defRPr>
                <a:solidFill>
                  <a:srgbClr val="FFFFFF"/>
                </a:solidFill>
              </a:defRPr>
            </a:pPr>
            <a:r>
              <a:rPr lang="en-US" dirty="0">
                <a:latin typeface="Times New Roman" pitchFamily="18" charset="0"/>
                <a:cs typeface="Times New Roman" pitchFamily="18" charset="0"/>
              </a:rPr>
              <a:t>Ethics, social responsibility, and sustainability are important principles that guide good behavior in society and business. Ethics helps people decide what is right and wrong, while social responsibility means acting in ways that benefit others and the community. Sustainability focuses on using resources carefully so the environment and future generations are protected. Together, these ideas encourage organizations and individuals to make decisions that are fair, responsible, and good for the long term.</a:t>
            </a:r>
            <a:endParaRPr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sz="4000" b="1" dirty="0">
                <a:solidFill>
                  <a:srgbClr val="FFFF00"/>
                </a:solidFill>
                <a:latin typeface="Times New Roman" pitchFamily="18" charset="0"/>
                <a:cs typeface="Times New Roman" pitchFamily="18" charset="0"/>
              </a:rPr>
              <a:t>Why Good Ethics Is Good Business</a:t>
            </a:r>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Builds customer trust and loyalty.</a:t>
            </a:r>
          </a:p>
          <a:p>
            <a:r>
              <a:rPr lang="en-US" sz="2800" dirty="0">
                <a:latin typeface="Times New Roman" pitchFamily="18" charset="0"/>
                <a:cs typeface="Times New Roman" pitchFamily="18" charset="0"/>
              </a:rPr>
              <a:t>Attracts and keeps good employees.</a:t>
            </a:r>
          </a:p>
          <a:p>
            <a:r>
              <a:rPr lang="en-US" sz="2800" dirty="0">
                <a:latin typeface="Times New Roman" pitchFamily="18" charset="0"/>
                <a:cs typeface="Times New Roman" pitchFamily="18" charset="0"/>
              </a:rPr>
              <a:t>Improves the company’s reputation.</a:t>
            </a:r>
          </a:p>
          <a:p>
            <a:r>
              <a:rPr lang="en-US" sz="2800" dirty="0">
                <a:latin typeface="Times New Roman" pitchFamily="18" charset="0"/>
                <a:cs typeface="Times New Roman" pitchFamily="18" charset="0"/>
              </a:rPr>
              <a:t>Reduces legal and financial risks.</a:t>
            </a:r>
          </a:p>
          <a:p>
            <a:r>
              <a:rPr lang="en-US" sz="2800" dirty="0">
                <a:latin typeface="Times New Roman" pitchFamily="18" charset="0"/>
                <a:cs typeface="Times New Roman" pitchFamily="18" charset="0"/>
              </a:rPr>
              <a:t>Leads to long-term, sustainable success</a:t>
            </a:r>
            <a:r>
              <a:rPr lang="en-US" dirty="0"/>
              <a:t>.</a:t>
            </a:r>
          </a:p>
          <a:p>
            <a:pPr marL="0" indent="0">
              <a:buNone/>
              <a:defRPr>
                <a:solidFill>
                  <a:srgbClr val="FFFFFF"/>
                </a:solidFill>
              </a:defRPr>
            </a:pP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sz="4000" b="1" dirty="0">
                <a:solidFill>
                  <a:srgbClr val="FFFF00"/>
                </a:solidFill>
                <a:latin typeface="Times New Roman" pitchFamily="18" charset="0"/>
                <a:cs typeface="Times New Roman" pitchFamily="18" charset="0"/>
              </a:rPr>
              <a:t>Does It Pay to Be Ethical?</a:t>
            </a:r>
          </a:p>
        </p:txBody>
      </p:sp>
      <p:sp>
        <p:nvSpPr>
          <p:cNvPr id="3" name="Content Placeholder 2"/>
          <p:cNvSpPr>
            <a:spLocks noGrp="1"/>
          </p:cNvSpPr>
          <p:nvPr>
            <p:ph idx="1"/>
          </p:nvPr>
        </p:nvSpPr>
        <p:spPr/>
        <p:txBody>
          <a:bodyPr>
            <a:normAutofit fontScale="77500" lnSpcReduction="20000"/>
          </a:bodyPr>
          <a:lstStyle/>
          <a:p>
            <a:pPr marL="0" indent="0">
              <a:buNone/>
            </a:pPr>
            <a:r>
              <a:rPr lang="en-US" sz="3300" dirty="0" smtClean="0">
                <a:latin typeface="Times New Roman" pitchFamily="18" charset="0"/>
                <a:cs typeface="Times New Roman" pitchFamily="18" charset="0"/>
              </a:rPr>
              <a:t>    Yes </a:t>
            </a:r>
            <a:r>
              <a:rPr lang="en-US" sz="3300" dirty="0">
                <a:latin typeface="Times New Roman" pitchFamily="18" charset="0"/>
                <a:cs typeface="Times New Roman" pitchFamily="18" charset="0"/>
              </a:rPr>
              <a:t>— </a:t>
            </a:r>
            <a:r>
              <a:rPr lang="en-US" sz="3300" b="1" dirty="0">
                <a:latin typeface="Times New Roman" pitchFamily="18" charset="0"/>
                <a:cs typeface="Times New Roman" pitchFamily="18" charset="0"/>
              </a:rPr>
              <a:t>it pays to be ethical</a:t>
            </a:r>
            <a:r>
              <a:rPr lang="en-US" sz="3300" dirty="0" smtClean="0">
                <a:latin typeface="Times New Roman" pitchFamily="18" charset="0"/>
                <a:cs typeface="Times New Roman" pitchFamily="18" charset="0"/>
              </a:rPr>
              <a:t>.</a:t>
            </a:r>
          </a:p>
          <a:p>
            <a:pPr marL="0" indent="0">
              <a:buNone/>
            </a:pPr>
            <a:endParaRPr lang="en-US" sz="3300" dirty="0">
              <a:latin typeface="Times New Roman" pitchFamily="18" charset="0"/>
              <a:cs typeface="Times New Roman" pitchFamily="18" charset="0"/>
            </a:endParaRPr>
          </a:p>
          <a:p>
            <a:r>
              <a:rPr lang="en-US" sz="3300" dirty="0">
                <a:latin typeface="Times New Roman" pitchFamily="18" charset="0"/>
                <a:cs typeface="Times New Roman" pitchFamily="18" charset="0"/>
              </a:rPr>
              <a:t>Ethical companies attract loyal customers who trust their products and services.</a:t>
            </a:r>
          </a:p>
          <a:p>
            <a:r>
              <a:rPr lang="en-US" sz="3300" dirty="0">
                <a:latin typeface="Times New Roman" pitchFamily="18" charset="0"/>
                <a:cs typeface="Times New Roman" pitchFamily="18" charset="0"/>
              </a:rPr>
              <a:t>They face fewer legal problems, fines, or scandals, which saves money.</a:t>
            </a:r>
          </a:p>
          <a:p>
            <a:r>
              <a:rPr lang="en-US" sz="3300" dirty="0">
                <a:latin typeface="Times New Roman" pitchFamily="18" charset="0"/>
                <a:cs typeface="Times New Roman" pitchFamily="18" charset="0"/>
              </a:rPr>
              <a:t>Employees feel safer and more motivated, leading to better performance.</a:t>
            </a:r>
          </a:p>
          <a:p>
            <a:r>
              <a:rPr lang="en-US" sz="3300" dirty="0">
                <a:latin typeface="Times New Roman" pitchFamily="18" charset="0"/>
                <a:cs typeface="Times New Roman" pitchFamily="18" charset="0"/>
              </a:rPr>
              <a:t>Investors prefer ethical companies because they are more stable and less risky.</a:t>
            </a:r>
          </a:p>
          <a:p>
            <a:r>
              <a:rPr lang="en-US" sz="3300" dirty="0">
                <a:latin typeface="Times New Roman" pitchFamily="18" charset="0"/>
                <a:cs typeface="Times New Roman" pitchFamily="18" charset="0"/>
              </a:rPr>
              <a:t>A strong reputation helps the business grow and stay successful in the long run.</a:t>
            </a:r>
          </a:p>
          <a:p>
            <a:pPr>
              <a:defRPr>
                <a:solidFill>
                  <a:srgbClr val="FFFFFF"/>
                </a:solidFill>
              </a:defRPr>
            </a:pPr>
            <a:endParaRPr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defRPr sz="3600">
                <a:solidFill>
                  <a:srgbClr val="FFCC00"/>
                </a:solidFill>
              </a:defRPr>
            </a:pPr>
            <a:r>
              <a:rPr sz="3600" b="1" dirty="0">
                <a:solidFill>
                  <a:srgbClr val="FFFF00"/>
                </a:solidFill>
                <a:latin typeface="Times New Roman" pitchFamily="18" charset="0"/>
                <a:cs typeface="Times New Roman" pitchFamily="18" charset="0"/>
              </a:rPr>
              <a:t>High-Performance Companies Insights</a:t>
            </a:r>
          </a:p>
        </p:txBody>
      </p:sp>
      <p:sp>
        <p:nvSpPr>
          <p:cNvPr id="3" name="Content Placeholder 2"/>
          <p:cNvSpPr>
            <a:spLocks noGrp="1"/>
          </p:cNvSpPr>
          <p:nvPr>
            <p:ph idx="1"/>
          </p:nvPr>
        </p:nvSpPr>
        <p:spPr/>
        <p:txBody>
          <a:bodyPr>
            <a:noAutofit/>
          </a:bodyPr>
          <a:lstStyle/>
          <a:p>
            <a:r>
              <a:rPr lang="en-US" sz="2800" b="1" dirty="0">
                <a:latin typeface="Times New Roman" pitchFamily="18" charset="0"/>
                <a:cs typeface="Times New Roman" pitchFamily="18" charset="0"/>
              </a:rPr>
              <a:t>Clear Vision and Goals:</a:t>
            </a:r>
            <a:r>
              <a:rPr lang="en-US" sz="2800" dirty="0">
                <a:latin typeface="Times New Roman" pitchFamily="18" charset="0"/>
                <a:cs typeface="Times New Roman" pitchFamily="18" charset="0"/>
              </a:rPr>
              <a:t> They have a strong mission and set clear, achievable objectives for everyone.</a:t>
            </a:r>
          </a:p>
          <a:p>
            <a:r>
              <a:rPr lang="en-US" sz="2800" b="1" dirty="0">
                <a:latin typeface="Times New Roman" pitchFamily="18" charset="0"/>
                <a:cs typeface="Times New Roman" pitchFamily="18" charset="0"/>
              </a:rPr>
              <a:t>Strong Leadership:</a:t>
            </a:r>
            <a:r>
              <a:rPr lang="en-US" sz="2800" dirty="0">
                <a:latin typeface="Times New Roman" pitchFamily="18" charset="0"/>
                <a:cs typeface="Times New Roman" pitchFamily="18" charset="0"/>
              </a:rPr>
              <a:t> Leaders inspire, guide, and support employees to perform their best.</a:t>
            </a:r>
          </a:p>
          <a:p>
            <a:r>
              <a:rPr lang="en-US" sz="2800" b="1" dirty="0">
                <a:latin typeface="Times New Roman" pitchFamily="18" charset="0"/>
                <a:cs typeface="Times New Roman" pitchFamily="18" charset="0"/>
              </a:rPr>
              <a:t>Employee Engagement:</a:t>
            </a:r>
            <a:r>
              <a:rPr lang="en-US" sz="2800" dirty="0">
                <a:latin typeface="Times New Roman" pitchFamily="18" charset="0"/>
                <a:cs typeface="Times New Roman" pitchFamily="18" charset="0"/>
              </a:rPr>
              <a:t> They invest in training, teamwork, and motivation, leading to high productivity</a:t>
            </a:r>
            <a:r>
              <a:rPr lang="en-US" sz="2800" dirty="0" smtClean="0">
                <a:latin typeface="Times New Roman" pitchFamily="18" charset="0"/>
                <a:cs typeface="Times New Roman" pitchFamily="18" charset="0"/>
              </a:rPr>
              <a:t>.</a:t>
            </a:r>
            <a:endParaRPr lang="en-US" sz="2800" dirty="0">
              <a:latin typeface="Times New Roman" pitchFamily="18" charset="0"/>
              <a:cs typeface="Times New Roman" pitchFamily="18" charset="0"/>
            </a:endParaRPr>
          </a:p>
          <a:p>
            <a:r>
              <a:rPr lang="en-US" sz="2800" b="1" dirty="0">
                <a:latin typeface="Times New Roman" pitchFamily="18" charset="0"/>
                <a:cs typeface="Times New Roman" pitchFamily="18" charset="0"/>
              </a:rPr>
              <a:t>Innovation and Adaptability:</a:t>
            </a:r>
            <a:r>
              <a:rPr lang="en-US" sz="2800" dirty="0">
                <a:latin typeface="Times New Roman" pitchFamily="18" charset="0"/>
                <a:cs typeface="Times New Roman" pitchFamily="18" charset="0"/>
              </a:rPr>
              <a:t> They embrace new ideas, technology, and change quickly when needed.</a:t>
            </a:r>
          </a:p>
          <a:p>
            <a:pPr marL="0" indent="0">
              <a:buNone/>
            </a:pPr>
            <a:endParaRPr lang="en-US" sz="2800" dirty="0">
              <a:latin typeface="Times New Roman" pitchFamily="18" charset="0"/>
              <a:cs typeface="Times New Roman" pitchFamily="18" charset="0"/>
            </a:endParaRPr>
          </a:p>
          <a:p>
            <a:pPr marL="0" indent="0">
              <a:buNone/>
            </a:pPr>
            <a:endParaRPr lang="en-US" sz="2800" dirty="0">
              <a:latin typeface="Times New Roman" pitchFamily="18" charset="0"/>
              <a:cs typeface="Times New Roman" pitchFamily="18" charset="0"/>
            </a:endParaRPr>
          </a:p>
          <a:p>
            <a:pPr>
              <a:defRPr>
                <a:solidFill>
                  <a:srgbClr val="FFFFFF"/>
                </a:solidFill>
              </a:defRPr>
            </a:pPr>
            <a:endParaRPr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017" y="745435"/>
            <a:ext cx="2663687" cy="854765"/>
          </a:xfrm>
        </p:spPr>
        <p:txBody>
          <a:bodyPr/>
          <a:lstStyle/>
          <a:p>
            <a:r>
              <a:rPr lang="en-US" sz="4000" b="1" dirty="0" smtClean="0">
                <a:solidFill>
                  <a:srgbClr val="FFFF00"/>
                </a:solidFill>
                <a:latin typeface="Times New Roman" pitchFamily="18" charset="0"/>
                <a:cs typeface="Times New Roman" pitchFamily="18" charset="0"/>
              </a:rPr>
              <a:t>Example</a:t>
            </a:r>
            <a:endParaRPr lang="en-US" sz="4000" b="1" dirty="0">
              <a:solidFill>
                <a:srgbClr val="FFFF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pPr marL="0" indent="0">
              <a:buNone/>
            </a:pPr>
            <a:r>
              <a:rPr lang="en-US" sz="3000" dirty="0">
                <a:latin typeface="Times New Roman" pitchFamily="18" charset="0"/>
                <a:cs typeface="Times New Roman" pitchFamily="18" charset="0"/>
              </a:rPr>
              <a:t>Toyota is known worldwide as a high-performance company because it focuses on quality, efficiency, and continuous improvement. Its famous “Toyota Production System” reduces waste, improves speed, and ensures high product quality. Toyota also invests heavily in employee training and teamwork, which boosts productivity. The company listens closely to customer needs and consistently innovates in hybrid and electric vehicles. Because of these practices, Toyota has built a strong reputation for reliability and long-term success.</a:t>
            </a:r>
          </a:p>
          <a:p>
            <a:pPr marL="0" indent="0">
              <a:buNone/>
            </a:pPr>
            <a:endParaRPr lang="en-US" dirty="0"/>
          </a:p>
        </p:txBody>
      </p:sp>
    </p:spTree>
    <p:extLst>
      <p:ext uri="{BB962C8B-B14F-4D97-AF65-F5344CB8AC3E}">
        <p14:creationId xmlns:p14="http://schemas.microsoft.com/office/powerpoint/2010/main" val="20357749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lang="en-US" sz="3200" b="1" dirty="0" smtClean="0">
                <a:solidFill>
                  <a:srgbClr val="FFFF00"/>
                </a:solidFill>
                <a:latin typeface="Times New Roman" pitchFamily="18" charset="0"/>
                <a:cs typeface="Times New Roman" pitchFamily="18" charset="0"/>
              </a:rPr>
              <a:t>Seven Principle of Admirable Business Ethics</a:t>
            </a:r>
            <a:endParaRPr sz="3200" b="1" dirty="0">
              <a:solidFill>
                <a:srgbClr val="FFFF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77500" lnSpcReduction="20000"/>
          </a:bodyPr>
          <a:lstStyle/>
          <a:p>
            <a:r>
              <a:rPr lang="en-US" b="1" dirty="0">
                <a:latin typeface="Times New Roman" pitchFamily="18" charset="0"/>
                <a:cs typeface="Times New Roman" pitchFamily="18" charset="0"/>
              </a:rPr>
              <a:t>Be Honest</a:t>
            </a:r>
            <a:r>
              <a:rPr lang="en-US" dirty="0">
                <a:latin typeface="Times New Roman" pitchFamily="18" charset="0"/>
                <a:cs typeface="Times New Roman" pitchFamily="18" charset="0"/>
              </a:rPr>
              <a:t> – Tell the truth and be transparent in all business dealings.</a:t>
            </a:r>
          </a:p>
          <a:p>
            <a:r>
              <a:rPr lang="en-US" b="1" dirty="0">
                <a:latin typeface="Times New Roman" pitchFamily="18" charset="0"/>
                <a:cs typeface="Times New Roman" pitchFamily="18" charset="0"/>
              </a:rPr>
              <a:t>Be Fair</a:t>
            </a:r>
            <a:r>
              <a:rPr lang="en-US" dirty="0">
                <a:latin typeface="Times New Roman" pitchFamily="18" charset="0"/>
                <a:cs typeface="Times New Roman" pitchFamily="18" charset="0"/>
              </a:rPr>
              <a:t> – Treat customers, employees, and partners with fairness and respect.</a:t>
            </a:r>
          </a:p>
          <a:p>
            <a:r>
              <a:rPr lang="en-US" b="1" dirty="0">
                <a:latin typeface="Times New Roman" pitchFamily="18" charset="0"/>
                <a:cs typeface="Times New Roman" pitchFamily="18" charset="0"/>
              </a:rPr>
              <a:t>Maintain Integrity</a:t>
            </a:r>
            <a:r>
              <a:rPr lang="en-US" dirty="0">
                <a:latin typeface="Times New Roman" pitchFamily="18" charset="0"/>
                <a:cs typeface="Times New Roman" pitchFamily="18" charset="0"/>
              </a:rPr>
              <a:t> – Do the right thing even when it is difficult.</a:t>
            </a:r>
          </a:p>
          <a:p>
            <a:r>
              <a:rPr lang="en-US" b="1" dirty="0">
                <a:latin typeface="Times New Roman" pitchFamily="18" charset="0"/>
                <a:cs typeface="Times New Roman" pitchFamily="18" charset="0"/>
              </a:rPr>
              <a:t>Keep Promises</a:t>
            </a:r>
            <a:r>
              <a:rPr lang="en-US" dirty="0">
                <a:latin typeface="Times New Roman" pitchFamily="18" charset="0"/>
                <a:cs typeface="Times New Roman" pitchFamily="18" charset="0"/>
              </a:rPr>
              <a:t> – Honor commitments and build trust through reliability.</a:t>
            </a:r>
          </a:p>
          <a:p>
            <a:r>
              <a:rPr lang="en-US" b="1" dirty="0">
                <a:latin typeface="Times New Roman" pitchFamily="18" charset="0"/>
                <a:cs typeface="Times New Roman" pitchFamily="18" charset="0"/>
              </a:rPr>
              <a:t>Be Loyal</a:t>
            </a:r>
            <a:r>
              <a:rPr lang="en-US" dirty="0">
                <a:latin typeface="Times New Roman" pitchFamily="18" charset="0"/>
                <a:cs typeface="Times New Roman" pitchFamily="18" charset="0"/>
              </a:rPr>
              <a:t> – Show loyalty to the company, employees, and customers without harming others.</a:t>
            </a:r>
          </a:p>
          <a:p>
            <a:r>
              <a:rPr lang="en-US" b="1" dirty="0">
                <a:latin typeface="Times New Roman" pitchFamily="18" charset="0"/>
                <a:cs typeface="Times New Roman" pitchFamily="18" charset="0"/>
              </a:rPr>
              <a:t>Show Respect</a:t>
            </a:r>
            <a:r>
              <a:rPr lang="en-US" dirty="0">
                <a:latin typeface="Times New Roman" pitchFamily="18" charset="0"/>
                <a:cs typeface="Times New Roman" pitchFamily="18" charset="0"/>
              </a:rPr>
              <a:t> – Value people’s rights, ideas, and dignity.</a:t>
            </a:r>
          </a:p>
          <a:p>
            <a:r>
              <a:rPr lang="en-US" b="1" dirty="0">
                <a:latin typeface="Times New Roman" pitchFamily="18" charset="0"/>
                <a:cs typeface="Times New Roman" pitchFamily="18" charset="0"/>
              </a:rPr>
              <a:t>Be Responsible</a:t>
            </a:r>
            <a:r>
              <a:rPr lang="en-US" dirty="0">
                <a:latin typeface="Times New Roman" pitchFamily="18" charset="0"/>
                <a:cs typeface="Times New Roman" pitchFamily="18" charset="0"/>
              </a:rPr>
              <a:t> – Accept responsibility for decisions and their impact on society and the environment.</a:t>
            </a:r>
          </a:p>
          <a:p>
            <a:pPr marL="0" indent="0">
              <a:buNone/>
              <a:defRPr>
                <a:solidFill>
                  <a:srgbClr val="FFFFFF"/>
                </a:solidFill>
              </a:defRPr>
            </a:pPr>
            <a:endParaRPr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sz="4000" b="1" dirty="0">
                <a:solidFill>
                  <a:srgbClr val="FFFF00"/>
                </a:solidFill>
                <a:latin typeface="Times New Roman" pitchFamily="18" charset="0"/>
                <a:cs typeface="Times New Roman" pitchFamily="18" charset="0"/>
              </a:rPr>
              <a:t>Who Is Prone to Be Unethical?</a:t>
            </a:r>
          </a:p>
        </p:txBody>
      </p:sp>
      <p:sp>
        <p:nvSpPr>
          <p:cNvPr id="3" name="Content Placeholder 2"/>
          <p:cNvSpPr>
            <a:spLocks noGrp="1"/>
          </p:cNvSpPr>
          <p:nvPr>
            <p:ph idx="1"/>
          </p:nvPr>
        </p:nvSpPr>
        <p:spPr/>
        <p:txBody>
          <a:bodyPr>
            <a:normAutofit fontScale="92500"/>
          </a:bodyPr>
          <a:lstStyle/>
          <a:p>
            <a:r>
              <a:rPr lang="en-US" sz="3000" b="1" dirty="0">
                <a:latin typeface="Times New Roman" pitchFamily="18" charset="0"/>
                <a:cs typeface="Times New Roman" pitchFamily="18" charset="0"/>
              </a:rPr>
              <a:t>Selfish or greedy people</a:t>
            </a:r>
            <a:r>
              <a:rPr lang="en-US" sz="3000" dirty="0">
                <a:latin typeface="Times New Roman" pitchFamily="18" charset="0"/>
                <a:cs typeface="Times New Roman" pitchFamily="18" charset="0"/>
              </a:rPr>
              <a:t> – put their own gain first.</a:t>
            </a:r>
          </a:p>
          <a:p>
            <a:r>
              <a:rPr lang="en-US" sz="3000" b="1" dirty="0">
                <a:latin typeface="Times New Roman" pitchFamily="18" charset="0"/>
                <a:cs typeface="Times New Roman" pitchFamily="18" charset="0"/>
              </a:rPr>
              <a:t>Careless or irresponsible people</a:t>
            </a:r>
            <a:r>
              <a:rPr lang="en-US" sz="3000" dirty="0">
                <a:latin typeface="Times New Roman" pitchFamily="18" charset="0"/>
                <a:cs typeface="Times New Roman" pitchFamily="18" charset="0"/>
              </a:rPr>
              <a:t> – don’t follow rules properly.</a:t>
            </a:r>
          </a:p>
          <a:p>
            <a:r>
              <a:rPr lang="en-US" sz="3000" b="1" dirty="0">
                <a:latin typeface="Times New Roman" pitchFamily="18" charset="0"/>
                <a:cs typeface="Times New Roman" pitchFamily="18" charset="0"/>
              </a:rPr>
              <a:t>People under pressure</a:t>
            </a:r>
            <a:r>
              <a:rPr lang="en-US" sz="3000" dirty="0">
                <a:latin typeface="Times New Roman" pitchFamily="18" charset="0"/>
                <a:cs typeface="Times New Roman" pitchFamily="18" charset="0"/>
              </a:rPr>
              <a:t> – stress can lead to shortcuts.</a:t>
            </a:r>
          </a:p>
          <a:p>
            <a:r>
              <a:rPr lang="en-US" sz="3000" b="1" dirty="0">
                <a:latin typeface="Times New Roman" pitchFamily="18" charset="0"/>
                <a:cs typeface="Times New Roman" pitchFamily="18" charset="0"/>
              </a:rPr>
              <a:t>Bad examples</a:t>
            </a:r>
            <a:r>
              <a:rPr lang="en-US" sz="3000" dirty="0">
                <a:latin typeface="Times New Roman" pitchFamily="18" charset="0"/>
                <a:cs typeface="Times New Roman" pitchFamily="18" charset="0"/>
              </a:rPr>
              <a:t> – copying unethical leaders or peers.</a:t>
            </a:r>
          </a:p>
          <a:p>
            <a:r>
              <a:rPr lang="en-US" sz="3000" b="1" dirty="0">
                <a:latin typeface="Times New Roman" pitchFamily="18" charset="0"/>
                <a:cs typeface="Times New Roman" pitchFamily="18" charset="0"/>
              </a:rPr>
              <a:t>Weak rules or supervision</a:t>
            </a:r>
            <a:r>
              <a:rPr lang="en-US" sz="3000" dirty="0">
                <a:latin typeface="Times New Roman" pitchFamily="18" charset="0"/>
                <a:cs typeface="Times New Roman" pitchFamily="18" charset="0"/>
              </a:rPr>
              <a:t> – easier to do wrong if no one checks.</a:t>
            </a:r>
          </a:p>
          <a:p>
            <a:pPr>
              <a:defRPr>
                <a:solidFill>
                  <a:srgbClr val="FFFFFF"/>
                </a:solidFill>
              </a:defRPr>
            </a:pPr>
            <a:endParaRPr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FF00"/>
                </a:solidFill>
                <a:latin typeface="Times New Roman" pitchFamily="18" charset="0"/>
                <a:cs typeface="Times New Roman" pitchFamily="18" charset="0"/>
              </a:rPr>
              <a:t>How to Establish an Ethics Culture?</a:t>
            </a:r>
            <a:endParaRPr lang="en-US" b="1" dirty="0">
              <a:solidFill>
                <a:srgbClr val="FFFF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2800" b="1" dirty="0">
                <a:latin typeface="Times New Roman" pitchFamily="18" charset="0"/>
                <a:cs typeface="Times New Roman" pitchFamily="18" charset="0"/>
              </a:rPr>
              <a:t>Set clear values and code of ethics</a:t>
            </a:r>
            <a:r>
              <a:rPr lang="en-US" sz="2800" dirty="0">
                <a:latin typeface="Times New Roman" pitchFamily="18" charset="0"/>
                <a:cs typeface="Times New Roman" pitchFamily="18" charset="0"/>
              </a:rPr>
              <a:t> – define expected behavior.</a:t>
            </a:r>
          </a:p>
          <a:p>
            <a:r>
              <a:rPr lang="en-US" sz="2800" b="1" dirty="0">
                <a:latin typeface="Times New Roman" pitchFamily="18" charset="0"/>
                <a:cs typeface="Times New Roman" pitchFamily="18" charset="0"/>
              </a:rPr>
              <a:t>Lead by example</a:t>
            </a:r>
            <a:r>
              <a:rPr lang="en-US" sz="2800" dirty="0">
                <a:latin typeface="Times New Roman" pitchFamily="18" charset="0"/>
                <a:cs typeface="Times New Roman" pitchFamily="18" charset="0"/>
              </a:rPr>
              <a:t> – leaders act with integrity.</a:t>
            </a:r>
          </a:p>
          <a:p>
            <a:r>
              <a:rPr lang="en-US" sz="2800" b="1" dirty="0">
                <a:latin typeface="Times New Roman" pitchFamily="18" charset="0"/>
                <a:cs typeface="Times New Roman" pitchFamily="18" charset="0"/>
              </a:rPr>
              <a:t>Provide training</a:t>
            </a:r>
            <a:r>
              <a:rPr lang="en-US" sz="2800" dirty="0">
                <a:latin typeface="Times New Roman" pitchFamily="18" charset="0"/>
                <a:cs typeface="Times New Roman" pitchFamily="18" charset="0"/>
              </a:rPr>
              <a:t> – teach employees about ethical decision-making.</a:t>
            </a:r>
          </a:p>
          <a:p>
            <a:r>
              <a:rPr lang="en-US" sz="2800" b="1" dirty="0">
                <a:latin typeface="Times New Roman" pitchFamily="18" charset="0"/>
                <a:cs typeface="Times New Roman" pitchFamily="18" charset="0"/>
              </a:rPr>
              <a:t>Encourage open communication</a:t>
            </a:r>
            <a:r>
              <a:rPr lang="en-US" sz="2800" dirty="0">
                <a:latin typeface="Times New Roman" pitchFamily="18" charset="0"/>
                <a:cs typeface="Times New Roman" pitchFamily="18" charset="0"/>
              </a:rPr>
              <a:t> – allow reporting without fear.</a:t>
            </a:r>
          </a:p>
          <a:p>
            <a:r>
              <a:rPr lang="en-US" sz="2800" b="1" dirty="0">
                <a:latin typeface="Times New Roman" pitchFamily="18" charset="0"/>
                <a:cs typeface="Times New Roman" pitchFamily="18" charset="0"/>
              </a:rPr>
              <a:t>Reward and enforce</a:t>
            </a:r>
            <a:r>
              <a:rPr lang="en-US" sz="2800" dirty="0">
                <a:latin typeface="Times New Roman" pitchFamily="18" charset="0"/>
                <a:cs typeface="Times New Roman" pitchFamily="18" charset="0"/>
              </a:rPr>
              <a:t> – recognize ethical behavior and address violations</a:t>
            </a:r>
            <a:r>
              <a:rPr lang="en-US" dirty="0"/>
              <a:t>.</a:t>
            </a:r>
          </a:p>
          <a:p>
            <a:endParaRPr lang="en-US" dirty="0"/>
          </a:p>
        </p:txBody>
      </p:sp>
    </p:spTree>
    <p:extLst>
      <p:ext uri="{BB962C8B-B14F-4D97-AF65-F5344CB8AC3E}">
        <p14:creationId xmlns:p14="http://schemas.microsoft.com/office/powerpoint/2010/main" val="2566902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solidFill>
        </p:spPr>
        <p:txBody>
          <a:bodyPr>
            <a:normAutofit/>
          </a:bodyPr>
          <a:lstStyle/>
          <a:p>
            <a:pPr>
              <a:defRPr sz="3600">
                <a:solidFill>
                  <a:srgbClr val="FFCC00"/>
                </a:solidFill>
              </a:defRPr>
            </a:pPr>
            <a:r>
              <a:rPr sz="4000" b="1" dirty="0">
                <a:solidFill>
                  <a:srgbClr val="FFFF00"/>
                </a:solidFill>
                <a:latin typeface="Times New Roman" pitchFamily="18" charset="0"/>
                <a:cs typeface="Times New Roman" pitchFamily="18" charset="0"/>
              </a:rPr>
              <a:t>Whistle-Blowing</a:t>
            </a:r>
          </a:p>
        </p:txBody>
      </p:sp>
      <p:sp>
        <p:nvSpPr>
          <p:cNvPr id="3" name="Content Placeholder 2"/>
          <p:cNvSpPr>
            <a:spLocks noGrp="1"/>
          </p:cNvSpPr>
          <p:nvPr>
            <p:ph idx="1"/>
          </p:nvPr>
        </p:nvSpPr>
        <p:spPr/>
        <p:txBody>
          <a:bodyPr>
            <a:normAutofit/>
          </a:bodyPr>
          <a:lstStyle/>
          <a:p>
            <a:pPr marL="0" indent="0">
              <a:buNone/>
              <a:defRPr>
                <a:solidFill>
                  <a:srgbClr val="FFFFFF"/>
                </a:solidFill>
              </a:defRPr>
            </a:pPr>
            <a:r>
              <a:rPr lang="en-US" sz="2800" b="1" dirty="0">
                <a:latin typeface="Times New Roman" pitchFamily="18" charset="0"/>
                <a:cs typeface="Times New Roman" pitchFamily="18" charset="0"/>
              </a:rPr>
              <a:t>Whistleblowing</a:t>
            </a:r>
            <a:r>
              <a:rPr lang="en-US" sz="2800" dirty="0">
                <a:latin typeface="Times New Roman" pitchFamily="18" charset="0"/>
                <a:cs typeface="Times New Roman" pitchFamily="18" charset="0"/>
              </a:rPr>
              <a:t> is when someone inside an organization reports </a:t>
            </a:r>
            <a:r>
              <a:rPr lang="en-US" sz="2800" b="1" dirty="0">
                <a:latin typeface="Times New Roman" pitchFamily="18" charset="0"/>
                <a:cs typeface="Times New Roman" pitchFamily="18" charset="0"/>
              </a:rPr>
              <a:t>illegal, unethical, or unsafe practices</a:t>
            </a:r>
            <a:r>
              <a:rPr lang="en-US" sz="2800" dirty="0">
                <a:latin typeface="Times New Roman" pitchFamily="18" charset="0"/>
                <a:cs typeface="Times New Roman" pitchFamily="18" charset="0"/>
              </a:rPr>
              <a:t> to authorities or the </a:t>
            </a:r>
            <a:r>
              <a:rPr lang="en-US" sz="2800" dirty="0" smtClean="0">
                <a:latin typeface="Times New Roman" pitchFamily="18" charset="0"/>
                <a:cs typeface="Times New Roman" pitchFamily="18" charset="0"/>
              </a:rPr>
              <a:t>public.</a:t>
            </a:r>
          </a:p>
          <a:p>
            <a:r>
              <a:rPr lang="en-US" sz="2800" b="1" dirty="0">
                <a:latin typeface="Times New Roman" pitchFamily="18" charset="0"/>
                <a:cs typeface="Times New Roman" pitchFamily="18" charset="0"/>
              </a:rPr>
              <a:t>Purpose</a:t>
            </a:r>
            <a:r>
              <a:rPr lang="en-US" sz="2800" dirty="0">
                <a:latin typeface="Times New Roman" pitchFamily="18" charset="0"/>
                <a:cs typeface="Times New Roman" pitchFamily="18" charset="0"/>
              </a:rPr>
              <a:t> – to stop bad practices and protect people.</a:t>
            </a:r>
          </a:p>
          <a:p>
            <a:r>
              <a:rPr lang="en-US" sz="2800" b="1" dirty="0">
                <a:latin typeface="Times New Roman" pitchFamily="18" charset="0"/>
                <a:cs typeface="Times New Roman" pitchFamily="18" charset="0"/>
              </a:rPr>
              <a:t>Reporting</a:t>
            </a:r>
            <a:r>
              <a:rPr lang="en-US" sz="2800" dirty="0">
                <a:latin typeface="Times New Roman" pitchFamily="18" charset="0"/>
                <a:cs typeface="Times New Roman" pitchFamily="18" charset="0"/>
              </a:rPr>
              <a:t> – inside the company (internal) or outside (external).</a:t>
            </a:r>
          </a:p>
          <a:p>
            <a:r>
              <a:rPr lang="en-US" sz="2800" b="1" dirty="0">
                <a:latin typeface="Times New Roman" pitchFamily="18" charset="0"/>
                <a:cs typeface="Times New Roman" pitchFamily="18" charset="0"/>
              </a:rPr>
              <a:t>Protection</a:t>
            </a:r>
            <a:r>
              <a:rPr lang="en-US" sz="2800" dirty="0">
                <a:latin typeface="Times New Roman" pitchFamily="18" charset="0"/>
                <a:cs typeface="Times New Roman" pitchFamily="18" charset="0"/>
              </a:rPr>
              <a:t> – laws can prevent retaliation.</a:t>
            </a:r>
          </a:p>
          <a:p>
            <a:r>
              <a:rPr lang="en-US" sz="2800" b="1" dirty="0">
                <a:latin typeface="Times New Roman" pitchFamily="18" charset="0"/>
                <a:cs typeface="Times New Roman" pitchFamily="18" charset="0"/>
              </a:rPr>
              <a:t>Risk</a:t>
            </a:r>
            <a:r>
              <a:rPr lang="en-US" sz="2800" dirty="0">
                <a:latin typeface="Times New Roman" pitchFamily="18" charset="0"/>
                <a:cs typeface="Times New Roman" pitchFamily="18" charset="0"/>
              </a:rPr>
              <a:t> – may face job loss or problems if not protected</a:t>
            </a:r>
            <a:r>
              <a:rPr lang="en-US" sz="2800" dirty="0"/>
              <a:t>.</a:t>
            </a:r>
          </a:p>
          <a:p>
            <a:pPr marL="0" indent="0">
              <a:buNone/>
              <a:defRPr>
                <a:solidFill>
                  <a:srgbClr val="FFFFFF"/>
                </a:solidFill>
              </a:defRPr>
            </a:pPr>
            <a:endParaRPr sz="280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sz="4000" b="1" dirty="0" smtClean="0">
                <a:solidFill>
                  <a:srgbClr val="FFFF00"/>
                </a:solidFill>
                <a:latin typeface="Times New Roman" pitchFamily="18" charset="0"/>
                <a:cs typeface="Times New Roman" pitchFamily="18" charset="0"/>
              </a:rPr>
              <a:t> </a:t>
            </a:r>
            <a:r>
              <a:rPr sz="4000" b="1" dirty="0">
                <a:solidFill>
                  <a:srgbClr val="FFFF00"/>
                </a:solidFill>
                <a:latin typeface="Times New Roman" pitchFamily="18" charset="0"/>
                <a:cs typeface="Times New Roman" pitchFamily="18" charset="0"/>
              </a:rPr>
              <a:t>Bribery</a:t>
            </a:r>
          </a:p>
        </p:txBody>
      </p:sp>
      <p:sp>
        <p:nvSpPr>
          <p:cNvPr id="3" name="Content Placeholder 2"/>
          <p:cNvSpPr>
            <a:spLocks noGrp="1"/>
          </p:cNvSpPr>
          <p:nvPr>
            <p:ph idx="1"/>
          </p:nvPr>
        </p:nvSpPr>
        <p:spPr/>
        <p:txBody>
          <a:bodyPr>
            <a:noAutofit/>
          </a:bodyPr>
          <a:lstStyle/>
          <a:p>
            <a:r>
              <a:rPr lang="en-US" sz="2400" b="1" dirty="0">
                <a:latin typeface="Times New Roman" pitchFamily="18" charset="0"/>
                <a:cs typeface="Times New Roman" pitchFamily="18" charset="0"/>
              </a:rPr>
              <a:t>Bribery</a:t>
            </a:r>
            <a:r>
              <a:rPr lang="en-US" sz="2400" dirty="0">
                <a:latin typeface="Times New Roman" pitchFamily="18" charset="0"/>
                <a:cs typeface="Times New Roman" pitchFamily="18" charset="0"/>
              </a:rPr>
              <a:t> is giving or receiving </a:t>
            </a:r>
            <a:r>
              <a:rPr lang="en-US" sz="2400" b="1" dirty="0">
                <a:latin typeface="Times New Roman" pitchFamily="18" charset="0"/>
                <a:cs typeface="Times New Roman" pitchFamily="18" charset="0"/>
              </a:rPr>
              <a:t>money, gifts, or favors</a:t>
            </a:r>
            <a:r>
              <a:rPr lang="en-US" sz="2400" dirty="0">
                <a:latin typeface="Times New Roman" pitchFamily="18" charset="0"/>
                <a:cs typeface="Times New Roman" pitchFamily="18" charset="0"/>
              </a:rPr>
              <a:t> to influence someone’s actions unfairly</a:t>
            </a:r>
            <a:r>
              <a:rPr lang="en-US" sz="2400" dirty="0" smtClean="0">
                <a:latin typeface="Times New Roman" pitchFamily="18" charset="0"/>
                <a:cs typeface="Times New Roman" pitchFamily="18" charset="0"/>
              </a:rPr>
              <a:t>.</a:t>
            </a:r>
            <a:endParaRPr lang="en-US" sz="2400" b="1" dirty="0">
              <a:latin typeface="Times New Roman" pitchFamily="18" charset="0"/>
              <a:cs typeface="Times New Roman" pitchFamily="18" charset="0"/>
            </a:endParaRPr>
          </a:p>
          <a:p>
            <a:r>
              <a:rPr lang="en-US" sz="2400" b="1" dirty="0">
                <a:latin typeface="Times New Roman" pitchFamily="18" charset="0"/>
                <a:cs typeface="Times New Roman" pitchFamily="18" charset="0"/>
              </a:rPr>
              <a:t>Purpose:</a:t>
            </a:r>
            <a:r>
              <a:rPr lang="en-US" sz="2400" dirty="0">
                <a:latin typeface="Times New Roman" pitchFamily="18" charset="0"/>
                <a:cs typeface="Times New Roman" pitchFamily="18" charset="0"/>
              </a:rPr>
              <a:t> To gain an </a:t>
            </a:r>
            <a:r>
              <a:rPr lang="en-US" sz="2400" b="1" dirty="0">
                <a:latin typeface="Times New Roman" pitchFamily="18" charset="0"/>
                <a:cs typeface="Times New Roman" pitchFamily="18" charset="0"/>
              </a:rPr>
              <a:t>unfair advantage</a:t>
            </a:r>
            <a:r>
              <a:rPr lang="en-US" sz="2400" dirty="0">
                <a:latin typeface="Times New Roman" pitchFamily="18" charset="0"/>
                <a:cs typeface="Times New Roman" pitchFamily="18" charset="0"/>
              </a:rPr>
              <a:t> or influence decisions.</a:t>
            </a:r>
          </a:p>
          <a:p>
            <a:r>
              <a:rPr lang="en-US" sz="2400" b="1" dirty="0">
                <a:latin typeface="Times New Roman" pitchFamily="18" charset="0"/>
                <a:cs typeface="Times New Roman" pitchFamily="18" charset="0"/>
              </a:rPr>
              <a:t>Forms:</a:t>
            </a:r>
            <a:endParaRPr lang="en-US" sz="2400" dirty="0">
              <a:latin typeface="Times New Roman" pitchFamily="18" charset="0"/>
              <a:cs typeface="Times New Roman" pitchFamily="18" charset="0"/>
            </a:endParaRPr>
          </a:p>
          <a:p>
            <a:pPr lvl="1"/>
            <a:r>
              <a:rPr lang="en-US" sz="2400" dirty="0">
                <a:latin typeface="Times New Roman" pitchFamily="18" charset="0"/>
                <a:cs typeface="Times New Roman" pitchFamily="18" charset="0"/>
              </a:rPr>
              <a:t>Cash or gifts</a:t>
            </a:r>
          </a:p>
          <a:p>
            <a:pPr lvl="1"/>
            <a:r>
              <a:rPr lang="en-US" sz="2400" dirty="0">
                <a:latin typeface="Times New Roman" pitchFamily="18" charset="0"/>
                <a:cs typeface="Times New Roman" pitchFamily="18" charset="0"/>
              </a:rPr>
              <a:t>Services or favors</a:t>
            </a:r>
          </a:p>
          <a:p>
            <a:pPr lvl="1"/>
            <a:r>
              <a:rPr lang="en-US" sz="2400" dirty="0">
                <a:latin typeface="Times New Roman" pitchFamily="18" charset="0"/>
                <a:cs typeface="Times New Roman" pitchFamily="18" charset="0"/>
              </a:rPr>
              <a:t>Kickbacks or rewards</a:t>
            </a:r>
          </a:p>
          <a:p>
            <a:r>
              <a:rPr lang="en-US" sz="2400" b="1" dirty="0">
                <a:latin typeface="Times New Roman" pitchFamily="18" charset="0"/>
                <a:cs typeface="Times New Roman" pitchFamily="18" charset="0"/>
              </a:rPr>
              <a:t>Illegal and unethical:</a:t>
            </a:r>
            <a:r>
              <a:rPr lang="en-US" sz="2400" dirty="0">
                <a:latin typeface="Times New Roman" pitchFamily="18" charset="0"/>
                <a:cs typeface="Times New Roman" pitchFamily="18" charset="0"/>
              </a:rPr>
              <a:t> Bribery is </a:t>
            </a:r>
            <a:r>
              <a:rPr lang="en-US" sz="2400" b="1" dirty="0">
                <a:latin typeface="Times New Roman" pitchFamily="18" charset="0"/>
                <a:cs typeface="Times New Roman" pitchFamily="18" charset="0"/>
              </a:rPr>
              <a:t>against the law</a:t>
            </a:r>
            <a:r>
              <a:rPr lang="en-US" sz="2400" dirty="0">
                <a:latin typeface="Times New Roman" pitchFamily="18" charset="0"/>
                <a:cs typeface="Times New Roman" pitchFamily="18" charset="0"/>
              </a:rPr>
              <a:t> and violates ethical standards.</a:t>
            </a:r>
          </a:p>
          <a:p>
            <a:r>
              <a:rPr lang="en-US" sz="2400" b="1" dirty="0">
                <a:latin typeface="Times New Roman" pitchFamily="18" charset="0"/>
                <a:cs typeface="Times New Roman" pitchFamily="18" charset="0"/>
              </a:rPr>
              <a:t>Impact:</a:t>
            </a:r>
            <a:r>
              <a:rPr lang="en-US" sz="2400" dirty="0">
                <a:latin typeface="Times New Roman" pitchFamily="18" charset="0"/>
                <a:cs typeface="Times New Roman" pitchFamily="18" charset="0"/>
              </a:rPr>
              <a:t> Damages trust, reputation, and fairness in organizations or society.</a:t>
            </a:r>
          </a:p>
          <a:p>
            <a:pPr marL="0" indent="0">
              <a:buNone/>
              <a:defRPr>
                <a:solidFill>
                  <a:srgbClr val="FFFFFF"/>
                </a:solidFill>
              </a:defRPr>
            </a:pPr>
            <a:endParaRPr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FFFF00"/>
                </a:solidFill>
                <a:latin typeface="Times New Roman" pitchFamily="18" charset="0"/>
                <a:cs typeface="Times New Roman" pitchFamily="18" charset="0"/>
              </a:rPr>
              <a:t>Avoiding Bribery</a:t>
            </a:r>
          </a:p>
        </p:txBody>
      </p:sp>
      <p:sp>
        <p:nvSpPr>
          <p:cNvPr id="3" name="Content Placeholder 2"/>
          <p:cNvSpPr>
            <a:spLocks noGrp="1"/>
          </p:cNvSpPr>
          <p:nvPr>
            <p:ph idx="1"/>
          </p:nvPr>
        </p:nvSpPr>
        <p:spPr/>
        <p:txBody>
          <a:bodyPr>
            <a:normAutofit fontScale="92500"/>
          </a:bodyPr>
          <a:lstStyle/>
          <a:p>
            <a:r>
              <a:rPr lang="en-US" sz="3000" b="1" dirty="0">
                <a:latin typeface="Times New Roman" pitchFamily="18" charset="0"/>
                <a:cs typeface="Times New Roman" pitchFamily="18" charset="0"/>
              </a:rPr>
              <a:t>Follow laws and rules</a:t>
            </a:r>
            <a:r>
              <a:rPr lang="en-US" sz="3000" dirty="0">
                <a:latin typeface="Times New Roman" pitchFamily="18" charset="0"/>
                <a:cs typeface="Times New Roman" pitchFamily="18" charset="0"/>
              </a:rPr>
              <a:t> – never offer or accept bribes.</a:t>
            </a:r>
          </a:p>
          <a:p>
            <a:r>
              <a:rPr lang="en-US" sz="3000" b="1" dirty="0">
                <a:latin typeface="Times New Roman" pitchFamily="18" charset="0"/>
                <a:cs typeface="Times New Roman" pitchFamily="18" charset="0"/>
              </a:rPr>
              <a:t>Set clear policies</a:t>
            </a:r>
            <a:r>
              <a:rPr lang="en-US" sz="3000" dirty="0">
                <a:latin typeface="Times New Roman" pitchFamily="18" charset="0"/>
                <a:cs typeface="Times New Roman" pitchFamily="18" charset="0"/>
              </a:rPr>
              <a:t> – organization should have anti-bribery rules.</a:t>
            </a:r>
          </a:p>
          <a:p>
            <a:r>
              <a:rPr lang="en-US" sz="3000" b="1" dirty="0">
                <a:latin typeface="Times New Roman" pitchFamily="18" charset="0"/>
                <a:cs typeface="Times New Roman" pitchFamily="18" charset="0"/>
              </a:rPr>
              <a:t>Train employees</a:t>
            </a:r>
            <a:r>
              <a:rPr lang="en-US" sz="3000" dirty="0">
                <a:latin typeface="Times New Roman" pitchFamily="18" charset="0"/>
                <a:cs typeface="Times New Roman" pitchFamily="18" charset="0"/>
              </a:rPr>
              <a:t> – teach how to recognize and refuse bribes.</a:t>
            </a:r>
          </a:p>
          <a:p>
            <a:r>
              <a:rPr lang="en-US" sz="3000" b="1" dirty="0">
                <a:latin typeface="Times New Roman" pitchFamily="18" charset="0"/>
                <a:cs typeface="Times New Roman" pitchFamily="18" charset="0"/>
              </a:rPr>
              <a:t>Be transparent</a:t>
            </a:r>
            <a:r>
              <a:rPr lang="en-US" sz="3000" dirty="0">
                <a:latin typeface="Times New Roman" pitchFamily="18" charset="0"/>
                <a:cs typeface="Times New Roman" pitchFamily="18" charset="0"/>
              </a:rPr>
              <a:t> – keep records of all payments and gifts.</a:t>
            </a:r>
          </a:p>
          <a:p>
            <a:r>
              <a:rPr lang="en-US" sz="3000" b="1" dirty="0">
                <a:latin typeface="Times New Roman" pitchFamily="18" charset="0"/>
                <a:cs typeface="Times New Roman" pitchFamily="18" charset="0"/>
              </a:rPr>
              <a:t>Speak up</a:t>
            </a:r>
            <a:r>
              <a:rPr lang="en-US" sz="3000" dirty="0">
                <a:latin typeface="Times New Roman" pitchFamily="18" charset="0"/>
                <a:cs typeface="Times New Roman" pitchFamily="18" charset="0"/>
              </a:rPr>
              <a:t> – report any bribery attempts immediately.</a:t>
            </a:r>
          </a:p>
          <a:p>
            <a:endParaRPr lang="en-US" dirty="0"/>
          </a:p>
        </p:txBody>
      </p:sp>
    </p:spTree>
    <p:extLst>
      <p:ext uri="{BB962C8B-B14F-4D97-AF65-F5344CB8AC3E}">
        <p14:creationId xmlns:p14="http://schemas.microsoft.com/office/powerpoint/2010/main" val="214137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sz="4000" b="1" dirty="0">
                <a:solidFill>
                  <a:srgbClr val="FFFF00"/>
                </a:solidFill>
                <a:latin typeface="Times New Roman" pitchFamily="18" charset="0"/>
                <a:cs typeface="Times New Roman" pitchFamily="18" charset="0"/>
              </a:rPr>
              <a:t>Workplace Romance</a:t>
            </a:r>
          </a:p>
        </p:txBody>
      </p:sp>
      <p:sp>
        <p:nvSpPr>
          <p:cNvPr id="3" name="Content Placeholder 2"/>
          <p:cNvSpPr>
            <a:spLocks noGrp="1"/>
          </p:cNvSpPr>
          <p:nvPr>
            <p:ph idx="1"/>
          </p:nvPr>
        </p:nvSpPr>
        <p:spPr/>
        <p:txBody>
          <a:bodyPr>
            <a:normAutofit fontScale="77500" lnSpcReduction="20000"/>
          </a:bodyPr>
          <a:lstStyle/>
          <a:p>
            <a:r>
              <a:rPr lang="en-US" b="1" dirty="0">
                <a:latin typeface="Times New Roman" pitchFamily="18" charset="0"/>
                <a:cs typeface="Times New Roman" pitchFamily="18" charset="0"/>
              </a:rPr>
              <a:t>Workplace romance</a:t>
            </a:r>
            <a:r>
              <a:rPr lang="en-US" dirty="0">
                <a:latin typeface="Times New Roman" pitchFamily="18" charset="0"/>
                <a:cs typeface="Times New Roman" pitchFamily="18" charset="0"/>
              </a:rPr>
              <a:t> is a </a:t>
            </a:r>
            <a:r>
              <a:rPr lang="en-US" b="1" dirty="0">
                <a:latin typeface="Times New Roman" pitchFamily="18" charset="0"/>
                <a:cs typeface="Times New Roman" pitchFamily="18" charset="0"/>
              </a:rPr>
              <a:t>romantic relationship between employees</a:t>
            </a:r>
            <a:r>
              <a:rPr lang="en-US" dirty="0">
                <a:latin typeface="Times New Roman" pitchFamily="18" charset="0"/>
                <a:cs typeface="Times New Roman" pitchFamily="18" charset="0"/>
              </a:rPr>
              <a:t> in the same organization.</a:t>
            </a:r>
          </a:p>
          <a:p>
            <a:r>
              <a:rPr lang="en-US" b="1" dirty="0">
                <a:latin typeface="Times New Roman" pitchFamily="18" charset="0"/>
                <a:cs typeface="Times New Roman" pitchFamily="18" charset="0"/>
              </a:rPr>
              <a:t>Key Points:</a:t>
            </a:r>
          </a:p>
          <a:p>
            <a:r>
              <a:rPr lang="en-US" b="1" dirty="0">
                <a:latin typeface="Times New Roman" pitchFamily="18" charset="0"/>
                <a:cs typeface="Times New Roman" pitchFamily="18" charset="0"/>
              </a:rPr>
              <a:t>Common but sensitive:</a:t>
            </a:r>
            <a:r>
              <a:rPr lang="en-US" dirty="0">
                <a:latin typeface="Times New Roman" pitchFamily="18" charset="0"/>
                <a:cs typeface="Times New Roman" pitchFamily="18" charset="0"/>
              </a:rPr>
              <a:t> Can affect team dynamics and professionalism.</a:t>
            </a:r>
          </a:p>
          <a:p>
            <a:r>
              <a:rPr lang="en-US" b="1" dirty="0">
                <a:latin typeface="Times New Roman" pitchFamily="18" charset="0"/>
                <a:cs typeface="Times New Roman" pitchFamily="18" charset="0"/>
              </a:rPr>
              <a:t>Risks:</a:t>
            </a:r>
            <a:r>
              <a:rPr lang="en-US" dirty="0">
                <a:latin typeface="Times New Roman" pitchFamily="18" charset="0"/>
                <a:cs typeface="Times New Roman" pitchFamily="18" charset="0"/>
              </a:rPr>
              <a:t> Conflicts of interest, favoritism, gossip, or harassment claims.</a:t>
            </a:r>
          </a:p>
          <a:p>
            <a:r>
              <a:rPr lang="en-US" b="1" dirty="0">
                <a:latin typeface="Times New Roman" pitchFamily="18" charset="0"/>
                <a:cs typeface="Times New Roman" pitchFamily="18" charset="0"/>
              </a:rPr>
              <a:t>Policies:</a:t>
            </a:r>
            <a:r>
              <a:rPr lang="en-US" dirty="0">
                <a:latin typeface="Times New Roman" pitchFamily="18" charset="0"/>
                <a:cs typeface="Times New Roman" pitchFamily="18" charset="0"/>
              </a:rPr>
              <a:t> Many companies have rules about relationships, especially between managers and subordinates.</a:t>
            </a:r>
          </a:p>
          <a:p>
            <a:r>
              <a:rPr lang="en-US" b="1" dirty="0">
                <a:latin typeface="Times New Roman" pitchFamily="18" charset="0"/>
                <a:cs typeface="Times New Roman" pitchFamily="18" charset="0"/>
              </a:rPr>
              <a:t>Professionalism:</a:t>
            </a:r>
            <a:r>
              <a:rPr lang="en-US" dirty="0">
                <a:latin typeface="Times New Roman" pitchFamily="18" charset="0"/>
                <a:cs typeface="Times New Roman" pitchFamily="18" charset="0"/>
              </a:rPr>
              <a:t> Employees should maintain boundaries and avoid letting personal relationships affect work.</a:t>
            </a:r>
          </a:p>
          <a:p>
            <a:r>
              <a:rPr lang="en-US" b="1" dirty="0">
                <a:latin typeface="Times New Roman" pitchFamily="18" charset="0"/>
                <a:cs typeface="Times New Roman" pitchFamily="18" charset="0"/>
              </a:rPr>
              <a:t>Disclosure:</a:t>
            </a:r>
            <a:r>
              <a:rPr lang="en-US" dirty="0">
                <a:latin typeface="Times New Roman" pitchFamily="18" charset="0"/>
                <a:cs typeface="Times New Roman" pitchFamily="18" charset="0"/>
              </a:rPr>
              <a:t> Some organizations require employees to inform HR about workplace relationships to manage risks</a:t>
            </a:r>
            <a:r>
              <a:rPr lang="en-US" dirty="0"/>
              <a:t>.</a:t>
            </a:r>
          </a:p>
          <a:p>
            <a:pPr>
              <a:defRPr>
                <a:solidFill>
                  <a:srgbClr val="FFFFFF"/>
                </a:solidFill>
              </a:defRPr>
            </a:pPr>
            <a:endParaRPr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tabLst>
                <a:tab pos="3140075" algn="l"/>
              </a:tabLst>
              <a:defRPr sz="3600">
                <a:solidFill>
                  <a:srgbClr val="FFCC00"/>
                </a:solidFill>
              </a:defRPr>
            </a:pPr>
            <a:r>
              <a:rPr sz="4000" b="1" dirty="0">
                <a:solidFill>
                  <a:srgbClr val="FFFF00"/>
                </a:solidFill>
                <a:latin typeface="Times New Roman" pitchFamily="18" charset="0"/>
                <a:cs typeface="Times New Roman" pitchFamily="18" charset="0"/>
              </a:rPr>
              <a:t>Social Responsibility</a:t>
            </a:r>
          </a:p>
        </p:txBody>
      </p:sp>
      <p:sp>
        <p:nvSpPr>
          <p:cNvPr id="3" name="Content Placeholder 2"/>
          <p:cNvSpPr>
            <a:spLocks noGrp="1"/>
          </p:cNvSpPr>
          <p:nvPr>
            <p:ph idx="1"/>
          </p:nvPr>
        </p:nvSpPr>
        <p:spPr/>
        <p:txBody>
          <a:bodyPr/>
          <a:lstStyle/>
          <a:p>
            <a:pPr marL="0" indent="0">
              <a:buNone/>
              <a:defRPr>
                <a:solidFill>
                  <a:srgbClr val="FFFFFF"/>
                </a:solidFill>
              </a:defRPr>
            </a:pPr>
            <a:r>
              <a:rPr lang="en-US" sz="2800" b="1" dirty="0">
                <a:latin typeface="Times New Roman" pitchFamily="18" charset="0"/>
                <a:cs typeface="Times New Roman" pitchFamily="18" charset="0"/>
              </a:rPr>
              <a:t>Social Responsibility</a:t>
            </a:r>
            <a:r>
              <a:rPr lang="en-US" sz="2800" dirty="0">
                <a:latin typeface="Times New Roman" pitchFamily="18" charset="0"/>
                <a:cs typeface="Times New Roman" pitchFamily="18" charset="0"/>
              </a:rPr>
              <a:t> is the ethical obligation of individuals, businesses, or organizations to act in ways that benefit society, the environment, and all stakeholders, not just themselves. It means making decisions that are not only legally correct but also morally and socially responsible</a:t>
            </a:r>
            <a:r>
              <a:rPr lang="en-US" dirty="0"/>
              <a:t>.</a:t>
            </a:r>
            <a:endParaRPr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0" y="4452731"/>
            <a:ext cx="4033217" cy="1924534"/>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3014870" cy="1143000"/>
          </a:xfrm>
        </p:spPr>
        <p:txBody>
          <a:bodyPr>
            <a:noAutofit/>
          </a:bodyPr>
          <a:lstStyle/>
          <a:p>
            <a:pPr>
              <a:defRPr sz="3600">
                <a:solidFill>
                  <a:srgbClr val="FFCC00"/>
                </a:solidFill>
              </a:defRPr>
            </a:pPr>
            <a:r>
              <a:rPr lang="en-US" sz="4000" b="1" dirty="0" smtClean="0">
                <a:solidFill>
                  <a:srgbClr val="FFFF00"/>
                </a:solidFill>
                <a:latin typeface="Times New Roman" pitchFamily="18" charset="0"/>
                <a:cs typeface="Times New Roman" pitchFamily="18" charset="0"/>
              </a:rPr>
              <a:t>Key points:</a:t>
            </a:r>
            <a:endParaRPr sz="4000" b="1" dirty="0">
              <a:solidFill>
                <a:srgbClr val="FFFF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0" indent="0">
              <a:buNone/>
            </a:pPr>
            <a:endParaRPr lang="en-US" dirty="0"/>
          </a:p>
          <a:p>
            <a:r>
              <a:rPr lang="en-US" sz="3000" dirty="0">
                <a:latin typeface="Times New Roman" pitchFamily="18" charset="0"/>
                <a:cs typeface="Times New Roman" pitchFamily="18" charset="0"/>
              </a:rPr>
              <a:t>Focuses on </a:t>
            </a:r>
            <a:r>
              <a:rPr lang="en-US" sz="3000" b="1" dirty="0">
                <a:latin typeface="Times New Roman" pitchFamily="18" charset="0"/>
                <a:cs typeface="Times New Roman" pitchFamily="18" charset="0"/>
              </a:rPr>
              <a:t>ethical behavior</a:t>
            </a:r>
            <a:r>
              <a:rPr lang="en-US" sz="3000" dirty="0">
                <a:latin typeface="Times New Roman" pitchFamily="18" charset="0"/>
                <a:cs typeface="Times New Roman" pitchFamily="18" charset="0"/>
              </a:rPr>
              <a:t> and </a:t>
            </a:r>
            <a:r>
              <a:rPr lang="en-US" sz="3000" b="1" dirty="0">
                <a:latin typeface="Times New Roman" pitchFamily="18" charset="0"/>
                <a:cs typeface="Times New Roman" pitchFamily="18" charset="0"/>
              </a:rPr>
              <a:t>doing the right thing</a:t>
            </a:r>
            <a:r>
              <a:rPr lang="en-US" sz="3000" dirty="0">
                <a:latin typeface="Times New Roman" pitchFamily="18" charset="0"/>
                <a:cs typeface="Times New Roman" pitchFamily="18" charset="0"/>
              </a:rPr>
              <a:t>.</a:t>
            </a:r>
          </a:p>
          <a:p>
            <a:r>
              <a:rPr lang="en-US" sz="3000" dirty="0">
                <a:latin typeface="Times New Roman" pitchFamily="18" charset="0"/>
                <a:cs typeface="Times New Roman" pitchFamily="18" charset="0"/>
              </a:rPr>
              <a:t>Encourages </a:t>
            </a:r>
            <a:r>
              <a:rPr lang="en-US" sz="3000" b="1" dirty="0">
                <a:latin typeface="Times New Roman" pitchFamily="18" charset="0"/>
                <a:cs typeface="Times New Roman" pitchFamily="18" charset="0"/>
              </a:rPr>
              <a:t>environmental protection</a:t>
            </a:r>
            <a:r>
              <a:rPr lang="en-US" sz="3000" dirty="0">
                <a:latin typeface="Times New Roman" pitchFamily="18" charset="0"/>
                <a:cs typeface="Times New Roman" pitchFamily="18" charset="0"/>
              </a:rPr>
              <a:t> and </a:t>
            </a:r>
            <a:r>
              <a:rPr lang="en-US" sz="3000" b="1" dirty="0">
                <a:latin typeface="Times New Roman" pitchFamily="18" charset="0"/>
                <a:cs typeface="Times New Roman" pitchFamily="18" charset="0"/>
              </a:rPr>
              <a:t>sustainable practices</a:t>
            </a:r>
            <a:r>
              <a:rPr lang="en-US" sz="3000" dirty="0">
                <a:latin typeface="Times New Roman" pitchFamily="18" charset="0"/>
                <a:cs typeface="Times New Roman" pitchFamily="18" charset="0"/>
              </a:rPr>
              <a:t>.</a:t>
            </a:r>
          </a:p>
          <a:p>
            <a:r>
              <a:rPr lang="en-US" sz="3000" dirty="0">
                <a:latin typeface="Times New Roman" pitchFamily="18" charset="0"/>
                <a:cs typeface="Times New Roman" pitchFamily="18" charset="0"/>
              </a:rPr>
              <a:t>Supports </a:t>
            </a:r>
            <a:r>
              <a:rPr lang="en-US" sz="3000" b="1" dirty="0">
                <a:latin typeface="Times New Roman" pitchFamily="18" charset="0"/>
                <a:cs typeface="Times New Roman" pitchFamily="18" charset="0"/>
              </a:rPr>
              <a:t>community welfare</a:t>
            </a:r>
            <a:r>
              <a:rPr lang="en-US" sz="3000" dirty="0">
                <a:latin typeface="Times New Roman" pitchFamily="18" charset="0"/>
                <a:cs typeface="Times New Roman" pitchFamily="18" charset="0"/>
              </a:rPr>
              <a:t> through charitable work or social programs.</a:t>
            </a:r>
          </a:p>
          <a:p>
            <a:r>
              <a:rPr lang="en-US" sz="3000" dirty="0">
                <a:latin typeface="Times New Roman" pitchFamily="18" charset="0"/>
                <a:cs typeface="Times New Roman" pitchFamily="18" charset="0"/>
              </a:rPr>
              <a:t>Enhances </a:t>
            </a:r>
            <a:r>
              <a:rPr lang="en-US" sz="3000" b="1" dirty="0">
                <a:latin typeface="Times New Roman" pitchFamily="18" charset="0"/>
                <a:cs typeface="Times New Roman" pitchFamily="18" charset="0"/>
              </a:rPr>
              <a:t>company reputation</a:t>
            </a:r>
            <a:r>
              <a:rPr lang="en-US" sz="3000" dirty="0">
                <a:latin typeface="Times New Roman" pitchFamily="18" charset="0"/>
                <a:cs typeface="Times New Roman" pitchFamily="18" charset="0"/>
              </a:rPr>
              <a:t> and </a:t>
            </a:r>
            <a:r>
              <a:rPr lang="en-US" sz="3000" b="1" dirty="0">
                <a:latin typeface="Times New Roman" pitchFamily="18" charset="0"/>
                <a:cs typeface="Times New Roman" pitchFamily="18" charset="0"/>
              </a:rPr>
              <a:t>public trust</a:t>
            </a:r>
            <a:r>
              <a:rPr lang="en-US" sz="3000" dirty="0">
                <a:latin typeface="Times New Roman" pitchFamily="18" charset="0"/>
                <a:cs typeface="Times New Roman" pitchFamily="18" charset="0"/>
              </a:rPr>
              <a:t>.</a:t>
            </a:r>
          </a:p>
          <a:p>
            <a:r>
              <a:rPr lang="en-US" sz="3000" dirty="0">
                <a:latin typeface="Times New Roman" pitchFamily="18" charset="0"/>
                <a:cs typeface="Times New Roman" pitchFamily="18" charset="0"/>
              </a:rPr>
              <a:t>Balances </a:t>
            </a:r>
            <a:r>
              <a:rPr lang="en-US" sz="3000" b="1" dirty="0">
                <a:latin typeface="Times New Roman" pitchFamily="18" charset="0"/>
                <a:cs typeface="Times New Roman" pitchFamily="18" charset="0"/>
              </a:rPr>
              <a:t>profit-making with societal good</a:t>
            </a:r>
            <a:r>
              <a:rPr lang="en-US" sz="3000" dirty="0">
                <a:latin typeface="Times New Roman" pitchFamily="18" charset="0"/>
                <a:cs typeface="Times New Roman" pitchFamily="18" charset="0"/>
              </a:rPr>
              <a:t>.</a:t>
            </a:r>
          </a:p>
          <a:p>
            <a:pPr marL="0" indent="0">
              <a:buNone/>
              <a:defRPr>
                <a:solidFill>
                  <a:srgbClr val="FFFFFF"/>
                </a:solidFill>
              </a:defRPr>
            </a:pPr>
            <a:endParaRPr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a:solidFill>
                  <a:srgbClr val="FFFF00"/>
                </a:solidFill>
                <a:latin typeface="Times New Roman" pitchFamily="18" charset="0"/>
                <a:cs typeface="Times New Roman" pitchFamily="18" charset="0"/>
              </a:rPr>
              <a:t>Does It Pay to Be Socially Responsible</a:t>
            </a:r>
            <a:r>
              <a:rPr lang="en-US" dirty="0">
                <a:solidFill>
                  <a:srgbClr val="FFFF00"/>
                </a:solidFill>
              </a:rPr>
              <a:t>?</a:t>
            </a:r>
          </a:p>
        </p:txBody>
      </p:sp>
      <p:sp>
        <p:nvSpPr>
          <p:cNvPr id="3" name="Content Placeholder 2"/>
          <p:cNvSpPr>
            <a:spLocks noGrp="1"/>
          </p:cNvSpPr>
          <p:nvPr>
            <p:ph idx="1"/>
          </p:nvPr>
        </p:nvSpPr>
        <p:spPr/>
        <p:txBody>
          <a:bodyPr>
            <a:normAutofit fontScale="92500" lnSpcReduction="10000"/>
          </a:bodyPr>
          <a:lstStyle/>
          <a:p>
            <a:r>
              <a:rPr lang="en-US" sz="3000" b="1" dirty="0">
                <a:latin typeface="Times New Roman" pitchFamily="18" charset="0"/>
                <a:cs typeface="Times New Roman" pitchFamily="18" charset="0"/>
              </a:rPr>
              <a:t>Builds Reputation:</a:t>
            </a:r>
            <a:r>
              <a:rPr lang="en-US" sz="3000" dirty="0">
                <a:latin typeface="Times New Roman" pitchFamily="18" charset="0"/>
                <a:cs typeface="Times New Roman" pitchFamily="18" charset="0"/>
              </a:rPr>
              <a:t> Positive image attracts customers and media attention.</a:t>
            </a:r>
          </a:p>
          <a:p>
            <a:r>
              <a:rPr lang="en-US" sz="3000" b="1" dirty="0">
                <a:latin typeface="Times New Roman" pitchFamily="18" charset="0"/>
                <a:cs typeface="Times New Roman" pitchFamily="18" charset="0"/>
              </a:rPr>
              <a:t>Customer Loyalty:</a:t>
            </a:r>
            <a:r>
              <a:rPr lang="en-US" sz="3000" dirty="0">
                <a:latin typeface="Times New Roman" pitchFamily="18" charset="0"/>
                <a:cs typeface="Times New Roman" pitchFamily="18" charset="0"/>
              </a:rPr>
              <a:t> People prefer brands that care about society.</a:t>
            </a:r>
          </a:p>
          <a:p>
            <a:r>
              <a:rPr lang="en-US" sz="3000" b="1" dirty="0">
                <a:latin typeface="Times New Roman" pitchFamily="18" charset="0"/>
                <a:cs typeface="Times New Roman" pitchFamily="18" charset="0"/>
              </a:rPr>
              <a:t>Employee Satisfaction:</a:t>
            </a:r>
            <a:r>
              <a:rPr lang="en-US" sz="3000" dirty="0">
                <a:latin typeface="Times New Roman" pitchFamily="18" charset="0"/>
                <a:cs typeface="Times New Roman" pitchFamily="18" charset="0"/>
              </a:rPr>
              <a:t> Motivates and retains employees.</a:t>
            </a:r>
          </a:p>
          <a:p>
            <a:r>
              <a:rPr lang="en-US" sz="3000" b="1" dirty="0">
                <a:latin typeface="Times New Roman" pitchFamily="18" charset="0"/>
                <a:cs typeface="Times New Roman" pitchFamily="18" charset="0"/>
              </a:rPr>
              <a:t>Reduces Risks:</a:t>
            </a:r>
            <a:r>
              <a:rPr lang="en-US" sz="3000" dirty="0">
                <a:latin typeface="Times New Roman" pitchFamily="18" charset="0"/>
                <a:cs typeface="Times New Roman" pitchFamily="18" charset="0"/>
              </a:rPr>
              <a:t> Lowers legal, environmental, and reputational issues.</a:t>
            </a:r>
          </a:p>
          <a:p>
            <a:r>
              <a:rPr lang="en-US" sz="3000" b="1" dirty="0">
                <a:latin typeface="Times New Roman" pitchFamily="18" charset="0"/>
                <a:cs typeface="Times New Roman" pitchFamily="18" charset="0"/>
              </a:rPr>
              <a:t>Long-Term Profit:</a:t>
            </a:r>
            <a:r>
              <a:rPr lang="en-US" sz="3000" dirty="0">
                <a:latin typeface="Times New Roman" pitchFamily="18" charset="0"/>
                <a:cs typeface="Times New Roman" pitchFamily="18" charset="0"/>
              </a:rPr>
              <a:t> Ethical practices can increase sustainable profits.</a:t>
            </a:r>
          </a:p>
          <a:p>
            <a:endParaRPr lang="en-US" dirty="0"/>
          </a:p>
        </p:txBody>
      </p:sp>
    </p:spTree>
    <p:extLst>
      <p:ext uri="{BB962C8B-B14F-4D97-AF65-F5344CB8AC3E}">
        <p14:creationId xmlns:p14="http://schemas.microsoft.com/office/powerpoint/2010/main" val="2453396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sz="4000" b="1" dirty="0">
                <a:solidFill>
                  <a:srgbClr val="FFFF00"/>
                </a:solidFill>
                <a:latin typeface="Times New Roman" pitchFamily="18" charset="0"/>
                <a:cs typeface="Times New Roman" pitchFamily="18" charset="0"/>
              </a:rPr>
              <a:t>Designing Social Policies</a:t>
            </a:r>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Focuses on </a:t>
            </a:r>
            <a:r>
              <a:rPr lang="en-US" sz="2800" b="1" dirty="0">
                <a:latin typeface="Times New Roman" pitchFamily="18" charset="0"/>
                <a:cs typeface="Times New Roman" pitchFamily="18" charset="0"/>
              </a:rPr>
              <a:t>creating public policies</a:t>
            </a:r>
            <a:r>
              <a:rPr lang="en-US" sz="2800" dirty="0">
                <a:latin typeface="Times New Roman" pitchFamily="18" charset="0"/>
                <a:cs typeface="Times New Roman" pitchFamily="18" charset="0"/>
              </a:rPr>
              <a:t> that guide design practices to benefit society.</a:t>
            </a:r>
          </a:p>
          <a:p>
            <a:r>
              <a:rPr lang="en-US" sz="2800" dirty="0">
                <a:latin typeface="Times New Roman" pitchFamily="18" charset="0"/>
                <a:cs typeface="Times New Roman" pitchFamily="18" charset="0"/>
              </a:rPr>
              <a:t>Ensures </a:t>
            </a:r>
            <a:r>
              <a:rPr lang="en-US" sz="2800" b="1" dirty="0">
                <a:latin typeface="Times New Roman" pitchFamily="18" charset="0"/>
                <a:cs typeface="Times New Roman" pitchFamily="18" charset="0"/>
              </a:rPr>
              <a:t>safety, accessibility, and sustainability</a:t>
            </a:r>
            <a:r>
              <a:rPr lang="en-US" sz="2800" dirty="0">
                <a:latin typeface="Times New Roman" pitchFamily="18" charset="0"/>
                <a:cs typeface="Times New Roman" pitchFamily="18" charset="0"/>
              </a:rPr>
              <a:t> in products, buildings, and services.</a:t>
            </a:r>
          </a:p>
          <a:p>
            <a:r>
              <a:rPr lang="en-US" sz="2800" dirty="0">
                <a:latin typeface="Times New Roman" pitchFamily="18" charset="0"/>
                <a:cs typeface="Times New Roman" pitchFamily="18" charset="0"/>
              </a:rPr>
              <a:t>Promotes </a:t>
            </a:r>
            <a:r>
              <a:rPr lang="en-US" sz="2800" b="1" dirty="0">
                <a:latin typeface="Times New Roman" pitchFamily="18" charset="0"/>
                <a:cs typeface="Times New Roman" pitchFamily="18" charset="0"/>
              </a:rPr>
              <a:t>innovation</a:t>
            </a:r>
            <a:r>
              <a:rPr lang="en-US" sz="2800" dirty="0">
                <a:latin typeface="Times New Roman" pitchFamily="18" charset="0"/>
                <a:cs typeface="Times New Roman" pitchFamily="18" charset="0"/>
              </a:rPr>
              <a:t> while considering ethical, cultural, and environmental impacts</a:t>
            </a:r>
            <a:r>
              <a:rPr lang="en-US" dirty="0">
                <a:latin typeface="Times New Roman" pitchFamily="18" charset="0"/>
                <a:cs typeface="Times New Roman" pitchFamily="18" charset="0"/>
              </a:rPr>
              <a:t>.</a:t>
            </a:r>
          </a:p>
          <a:p>
            <a:pPr>
              <a:defRPr>
                <a:solidFill>
                  <a:srgbClr val="FFFFFF"/>
                </a:solidFill>
              </a:defRPr>
            </a:pPr>
            <a:endParaRPr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solidFill>
                  <a:srgbClr val="FFFF00"/>
                </a:solidFill>
                <a:latin typeface="Times New Roman" pitchFamily="18" charset="0"/>
                <a:cs typeface="Times New Roman" pitchFamily="18" charset="0"/>
              </a:rPr>
              <a:t>Articulating Social </a:t>
            </a:r>
            <a:r>
              <a:rPr lang="en-US" sz="4000" b="1" dirty="0" smtClean="0">
                <a:solidFill>
                  <a:srgbClr val="FFFF00"/>
                </a:solidFill>
                <a:latin typeface="Times New Roman" pitchFamily="18" charset="0"/>
                <a:cs typeface="Times New Roman" pitchFamily="18" charset="0"/>
              </a:rPr>
              <a:t>Policy</a:t>
            </a:r>
            <a:endParaRPr lang="en-US" sz="4000" b="1" dirty="0">
              <a:solidFill>
                <a:srgbClr val="FFFF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z="2800" dirty="0">
                <a:latin typeface="Times New Roman" pitchFamily="18" charset="0"/>
                <a:cs typeface="Times New Roman" pitchFamily="18" charset="0"/>
              </a:rPr>
              <a:t>The process of </a:t>
            </a:r>
            <a:r>
              <a:rPr lang="en-US" sz="2800" b="1" dirty="0">
                <a:latin typeface="Times New Roman" pitchFamily="18" charset="0"/>
                <a:cs typeface="Times New Roman" pitchFamily="18" charset="0"/>
              </a:rPr>
              <a:t>communicating and implementing policies clearly</a:t>
            </a:r>
            <a:r>
              <a:rPr lang="en-US" sz="2800" dirty="0">
                <a:latin typeface="Times New Roman" pitchFamily="18" charset="0"/>
                <a:cs typeface="Times New Roman" pitchFamily="18" charset="0"/>
              </a:rPr>
              <a:t> to stakeholders, the public, and organizations.</a:t>
            </a:r>
          </a:p>
          <a:p>
            <a:r>
              <a:rPr lang="en-US" sz="2800" dirty="0">
                <a:latin typeface="Times New Roman" pitchFamily="18" charset="0"/>
                <a:cs typeface="Times New Roman" pitchFamily="18" charset="0"/>
              </a:rPr>
              <a:t>Ensures </a:t>
            </a:r>
            <a:r>
              <a:rPr lang="en-US" sz="2800" b="1" dirty="0">
                <a:latin typeface="Times New Roman" pitchFamily="18" charset="0"/>
                <a:cs typeface="Times New Roman" pitchFamily="18" charset="0"/>
              </a:rPr>
              <a:t>understanding, transparency, and support</a:t>
            </a:r>
            <a:r>
              <a:rPr lang="en-US" sz="2800" dirty="0">
                <a:latin typeface="Times New Roman" pitchFamily="18" charset="0"/>
                <a:cs typeface="Times New Roman" pitchFamily="18" charset="0"/>
              </a:rPr>
              <a:t> for the policy.</a:t>
            </a:r>
          </a:p>
          <a:p>
            <a:r>
              <a:rPr lang="en-US" sz="2800" dirty="0">
                <a:latin typeface="Times New Roman" pitchFamily="18" charset="0"/>
                <a:cs typeface="Times New Roman" pitchFamily="18" charset="0"/>
              </a:rPr>
              <a:t>Involves </a:t>
            </a:r>
            <a:r>
              <a:rPr lang="en-US" sz="2800" b="1" dirty="0">
                <a:latin typeface="Times New Roman" pitchFamily="18" charset="0"/>
                <a:cs typeface="Times New Roman" pitchFamily="18" charset="0"/>
              </a:rPr>
              <a:t>setting objectives, guidelines, and expected outcomes</a:t>
            </a:r>
            <a:r>
              <a:rPr lang="en-US" sz="2800" dirty="0">
                <a:latin typeface="Times New Roman" pitchFamily="18" charset="0"/>
                <a:cs typeface="Times New Roman" pitchFamily="18" charset="0"/>
              </a:rPr>
              <a:t> for practical application.</a:t>
            </a:r>
          </a:p>
          <a:p>
            <a:endParaRPr lang="en-US" dirty="0"/>
          </a:p>
        </p:txBody>
      </p:sp>
    </p:spTree>
    <p:extLst>
      <p:ext uri="{BB962C8B-B14F-4D97-AF65-F5344CB8AC3E}">
        <p14:creationId xmlns:p14="http://schemas.microsoft.com/office/powerpoint/2010/main" val="1159876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defRPr sz="3600">
                <a:solidFill>
                  <a:srgbClr val="FFCC00"/>
                </a:solidFill>
              </a:defRPr>
            </a:pPr>
            <a:r>
              <a:rPr sz="4000" b="1" dirty="0">
                <a:solidFill>
                  <a:srgbClr val="FFFF00"/>
                </a:solidFill>
                <a:latin typeface="Times New Roman" pitchFamily="18" charset="0"/>
                <a:cs typeface="Times New Roman" pitchFamily="18" charset="0"/>
              </a:rPr>
              <a:t>Social Policies on Retirement</a:t>
            </a:r>
          </a:p>
        </p:txBody>
      </p:sp>
      <p:sp>
        <p:nvSpPr>
          <p:cNvPr id="3" name="Content Placeholder 2"/>
          <p:cNvSpPr>
            <a:spLocks noGrp="1"/>
          </p:cNvSpPr>
          <p:nvPr>
            <p:ph idx="1"/>
          </p:nvPr>
        </p:nvSpPr>
        <p:spPr/>
        <p:txBody>
          <a:bodyPr>
            <a:normAutofit/>
          </a:bodyPr>
          <a:lstStyle/>
          <a:p>
            <a:pPr marL="0" indent="0">
              <a:buNone/>
              <a:defRPr>
                <a:solidFill>
                  <a:srgbClr val="FFFFFF"/>
                </a:solidFill>
              </a:defRPr>
            </a:pPr>
            <a:r>
              <a:rPr lang="en-US" sz="2800" b="1" dirty="0">
                <a:latin typeface="Times New Roman" pitchFamily="18" charset="0"/>
                <a:cs typeface="Times New Roman" pitchFamily="18" charset="0"/>
              </a:rPr>
              <a:t>Social Policies on Retirement:</a:t>
            </a:r>
            <a:r>
              <a:rPr lang="en-US" sz="2800" dirty="0">
                <a:latin typeface="Times New Roman" pitchFamily="18" charset="0"/>
                <a:cs typeface="Times New Roman" pitchFamily="18" charset="0"/>
              </a:rPr>
              <a:t> Policies that ensure financial security, health, and well-being for individuals after they leave the workforce. They aim to provide a stable life for retirees and reduce social inequality.</a:t>
            </a:r>
            <a:endParaRPr sz="2800" dirty="0">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29495"/>
            <a:ext cx="5479142" cy="1143000"/>
          </a:xfrm>
        </p:spPr>
        <p:txBody>
          <a:bodyPr>
            <a:normAutofit/>
          </a:bodyPr>
          <a:lstStyle/>
          <a:p>
            <a:pPr>
              <a:defRPr sz="3600">
                <a:solidFill>
                  <a:srgbClr val="FFCC00"/>
                </a:solidFill>
              </a:defRPr>
            </a:pPr>
            <a:r>
              <a:rPr lang="en-US" sz="4000" b="1" dirty="0" smtClean="0">
                <a:solidFill>
                  <a:srgbClr val="FFFF00"/>
                </a:solidFill>
                <a:latin typeface="Times New Roman" pitchFamily="18" charset="0"/>
                <a:cs typeface="Times New Roman" pitchFamily="18" charset="0"/>
              </a:rPr>
              <a:t>Key Points:</a:t>
            </a:r>
            <a:endParaRPr sz="4000" b="1" dirty="0">
              <a:solidFill>
                <a:srgbClr val="FFFF00"/>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85000" lnSpcReduction="10000"/>
          </a:bodyPr>
          <a:lstStyle/>
          <a:p>
            <a:r>
              <a:rPr lang="en-US" sz="3300" b="1" dirty="0">
                <a:latin typeface="Times New Roman" pitchFamily="18" charset="0"/>
                <a:cs typeface="Times New Roman" pitchFamily="18" charset="0"/>
              </a:rPr>
              <a:t>Pension Systems:</a:t>
            </a:r>
            <a:r>
              <a:rPr lang="en-US" sz="3300" dirty="0">
                <a:latin typeface="Times New Roman" pitchFamily="18" charset="0"/>
                <a:cs typeface="Times New Roman" pitchFamily="18" charset="0"/>
              </a:rPr>
              <a:t> Government or employer-provided pensions to guarantee income after retirement.</a:t>
            </a:r>
          </a:p>
          <a:p>
            <a:r>
              <a:rPr lang="en-US" sz="3300" b="1" dirty="0">
                <a:latin typeface="Times New Roman" pitchFamily="18" charset="0"/>
                <a:cs typeface="Times New Roman" pitchFamily="18" charset="0"/>
              </a:rPr>
              <a:t>Social Security:</a:t>
            </a:r>
            <a:r>
              <a:rPr lang="en-US" sz="3300" dirty="0">
                <a:latin typeface="Times New Roman" pitchFamily="18" charset="0"/>
                <a:cs typeface="Times New Roman" pitchFamily="18" charset="0"/>
              </a:rPr>
              <a:t> Programs to support older adults who may not have sufficient savings.</a:t>
            </a:r>
          </a:p>
          <a:p>
            <a:r>
              <a:rPr lang="en-US" sz="3300" b="1" dirty="0">
                <a:latin typeface="Times New Roman" pitchFamily="18" charset="0"/>
                <a:cs typeface="Times New Roman" pitchFamily="18" charset="0"/>
              </a:rPr>
              <a:t>Healthcare Support:</a:t>
            </a:r>
            <a:r>
              <a:rPr lang="en-US" sz="3300" dirty="0">
                <a:latin typeface="Times New Roman" pitchFamily="18" charset="0"/>
                <a:cs typeface="Times New Roman" pitchFamily="18" charset="0"/>
              </a:rPr>
              <a:t> Access to affordable medical care for retirees.</a:t>
            </a:r>
          </a:p>
          <a:p>
            <a:r>
              <a:rPr lang="en-US" sz="3300" b="1" dirty="0">
                <a:latin typeface="Times New Roman" pitchFamily="18" charset="0"/>
                <a:cs typeface="Times New Roman" pitchFamily="18" charset="0"/>
              </a:rPr>
              <a:t>Retirement Age Regulations:</a:t>
            </a:r>
            <a:r>
              <a:rPr lang="en-US" sz="3300" dirty="0">
                <a:latin typeface="Times New Roman" pitchFamily="18" charset="0"/>
                <a:cs typeface="Times New Roman" pitchFamily="18" charset="0"/>
              </a:rPr>
              <a:t> Policies defining the age of retirement and eligibility for benefits.</a:t>
            </a:r>
          </a:p>
          <a:p>
            <a:r>
              <a:rPr lang="en-US" sz="3300" b="1" dirty="0">
                <a:latin typeface="Times New Roman" pitchFamily="18" charset="0"/>
                <a:cs typeface="Times New Roman" pitchFamily="18" charset="0"/>
              </a:rPr>
              <a:t>Encouraging Savings:</a:t>
            </a:r>
            <a:r>
              <a:rPr lang="en-US" sz="3300" dirty="0">
                <a:latin typeface="Times New Roman" pitchFamily="18" charset="0"/>
                <a:cs typeface="Times New Roman" pitchFamily="18" charset="0"/>
              </a:rPr>
              <a:t> Incentives for individuals to save for retirement through private or public schemes.</a:t>
            </a:r>
          </a:p>
          <a:p>
            <a:pPr>
              <a:defRPr>
                <a:solidFill>
                  <a:srgbClr val="FFFFFF"/>
                </a:solidFill>
              </a:defRPr>
            </a:pP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282848"/>
          </a:xfrm>
        </p:spPr>
        <p:txBody>
          <a:bodyPr>
            <a:normAutofit/>
          </a:bodyPr>
          <a:lstStyle/>
          <a:p>
            <a:r>
              <a:rPr lang="en-US" sz="6600" b="1" dirty="0" smtClean="0">
                <a:solidFill>
                  <a:srgbClr val="FFFF00"/>
                </a:solidFill>
                <a:latin typeface="Times New Roman" pitchFamily="18" charset="0"/>
                <a:cs typeface="Times New Roman" pitchFamily="18" charset="0"/>
              </a:rPr>
              <a:t>Thank you! </a:t>
            </a:r>
            <a:endParaRPr lang="en-US" sz="6600" b="1" dirty="0">
              <a:solidFill>
                <a:srgbClr val="FFFF00"/>
              </a:solidFill>
              <a:latin typeface="Times New Roman" pitchFamily="18" charset="0"/>
              <a:cs typeface="Times New Roman" pitchFamily="18" charset="0"/>
            </a:endParaRPr>
          </a:p>
        </p:txBody>
      </p:sp>
    </p:spTree>
    <p:extLst>
      <p:ext uri="{BB962C8B-B14F-4D97-AF65-F5344CB8AC3E}">
        <p14:creationId xmlns:p14="http://schemas.microsoft.com/office/powerpoint/2010/main" val="530632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139</TotalTime>
  <Words>1240</Words>
  <Application>Microsoft Office PowerPoint</Application>
  <PresentationFormat>On-screen Show (4:3)</PresentationFormat>
  <Paragraphs>110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Ethics, Social Responsibility, and Sustainability</vt:lpstr>
      <vt:lpstr>Introduction</vt:lpstr>
      <vt:lpstr>Why Good Ethics Is Good Business</vt:lpstr>
      <vt:lpstr>Does It Pay to Be Ethical?</vt:lpstr>
      <vt:lpstr>High-Performance Companies Insights</vt:lpstr>
      <vt:lpstr>Example</vt:lpstr>
      <vt:lpstr>Seven Principle of Admirable Business Ethics</vt:lpstr>
      <vt:lpstr>Who Is Prone to Be Unethical?</vt:lpstr>
      <vt:lpstr>How to Establish an Ethics Culture?</vt:lpstr>
      <vt:lpstr>Whistle-Blowing</vt:lpstr>
      <vt:lpstr> Bribery</vt:lpstr>
      <vt:lpstr>Avoiding Bribery</vt:lpstr>
      <vt:lpstr>Workplace Romance</vt:lpstr>
      <vt:lpstr>Social Responsibility</vt:lpstr>
      <vt:lpstr>Key points:</vt:lpstr>
      <vt:lpstr>Does It Pay to Be Socially Responsible?</vt:lpstr>
      <vt:lpstr>Designing Social Policies</vt:lpstr>
      <vt:lpstr>Articulating Social Policy</vt:lpstr>
      <vt:lpstr>Social Policies on Retirement</vt:lpstr>
      <vt:lpstr>Key Points:</vt:lpstr>
      <vt:lpstr>Thank you! </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Social Responsibility, and Sustainability</dc:title>
  <dc:creator>Amna Maham Ali</dc:creator>
  <dc:description>generated using python-pptx</dc:description>
  <cp:lastModifiedBy>ismail - [2010]</cp:lastModifiedBy>
  <cp:revision>13</cp:revision>
  <dcterms:created xsi:type="dcterms:W3CDTF">2013-01-27T09:14:16Z</dcterms:created>
  <dcterms:modified xsi:type="dcterms:W3CDTF">2025-12-06T17:17:51Z</dcterms:modified>
</cp:coreProperties>
</file>